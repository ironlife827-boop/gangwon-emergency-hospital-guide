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51560"/>
            <a:ext cx="7680960" cy="14173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4300" b="1">
                <a:solidFill>
                  <a:srgbClr val="FFFFFF"/>
                </a:solidFill>
                <a:latin typeface="Malgun Gothic"/>
              </a:rPr>
              <a:t>Gangwon Emergency</a:t>
            </a:r>
            <a:br/>
            <a:r>
              <a:t>Hospital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670048"/>
            <a:ext cx="713232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C6E8F1"/>
                </a:solidFill>
                <a:latin typeface="Malgun Gothic"/>
              </a:rPr>
              <a:t>강원도 맞춤형 응급 및 상시 병원 안내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401568"/>
            <a:ext cx="4206240" cy="128016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FFFFF"/>
                </a:solidFill>
                <a:latin typeface="Malgun Gothic"/>
              </a:rPr>
              <a:t>●  자연어 증상 입력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FFFFF"/>
                </a:solidFill>
                <a:latin typeface="Malgun Gothic"/>
              </a:rPr>
              <a:t>●  모델 기반 의심 질환 TOP3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FFFFF"/>
                </a:solidFill>
                <a:latin typeface="Malgun Gothic"/>
              </a:rPr>
              <a:t>●  응급도 + 병원 추천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078992"/>
            <a:ext cx="4709160" cy="4069080"/>
          </a:xfrm>
          <a:prstGeom prst="roundRect">
            <a:avLst>
              <a:gd name="adj" fmla="val 8000"/>
            </a:avLst>
          </a:prstGeom>
          <a:solidFill>
            <a:srgbClr val="0D203F"/>
          </a:solidFill>
          <a:ln>
            <a:solidFill>
              <a:srgbClr val="22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ite_hom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656329"/>
            <a:ext cx="4297680" cy="28503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21792"/>
            <a:ext cx="1600200" cy="292608"/>
          </a:xfrm>
          <a:prstGeom prst="roundRect">
            <a:avLst>
              <a:gd name="adj" fmla="val 18000"/>
            </a:avLst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8142C"/>
                </a:solidFill>
                <a:latin typeface="Malgun Gothic"/>
              </a:rPr>
              <a:t>DATA MINING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사용자는 증상을 말하지만, 어떤 진료과와 병원을 가야 할지 모른다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2926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48840"/>
            <a:ext cx="2468880" cy="36576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500" b="1">
                <a:solidFill>
                  <a:srgbClr val="08142C"/>
                </a:solidFill>
                <a:latin typeface="Malgun Gothic"/>
              </a:rPr>
              <a:t>사용자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743200"/>
            <a:ext cx="2560320" cy="65836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7486A0"/>
                </a:solidFill>
                <a:latin typeface="Malgun Gothic"/>
              </a:rPr>
              <a:t>“갑자기 왼팔에 힘이 없고</a:t>
            </a:r>
            <a:br/>
            <a:r>
              <a:t>말이 어눌해요”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600200"/>
            <a:ext cx="2971800" cy="2468880"/>
          </a:xfrm>
          <a:prstGeom prst="roundRect">
            <a:avLst>
              <a:gd name="adj" fmla="val 8000"/>
            </a:avLst>
          </a:prstGeom>
          <a:solidFill>
            <a:srgbClr val="E8F6F9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242316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08142C"/>
                </a:solidFill>
                <a:latin typeface="Malgun Gothic"/>
              </a:rPr>
              <a:t>비어 있던 중간 판단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011680" cy="91440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92437"/>
                </a:solidFill>
                <a:latin typeface="Malgun Gothic"/>
              </a:rPr>
              <a:t>●  증상군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92437"/>
                </a:solidFill>
                <a:latin typeface="Malgun Gothic"/>
              </a:rPr>
              <a:t>●  진료과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92437"/>
                </a:solidFill>
                <a:latin typeface="Malgun Gothic"/>
              </a:rPr>
              <a:t>●  의심 질환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92437"/>
                </a:solidFill>
                <a:latin typeface="Malgun Gothic"/>
              </a:rPr>
              <a:t>●  응급도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828800"/>
            <a:ext cx="2926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8" y="2148840"/>
            <a:ext cx="2423160" cy="36576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500" b="1">
                <a:solidFill>
                  <a:srgbClr val="08142C"/>
                </a:solidFill>
                <a:latin typeface="Malgun Gothic"/>
              </a:rPr>
              <a:t>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761488"/>
            <a:ext cx="224028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700" b="0">
                <a:solidFill>
                  <a:srgbClr val="7486A0"/>
                </a:solidFill>
                <a:latin typeface="Malgun Gothic"/>
              </a:rPr>
              <a:t>응급도와</a:t>
            </a:r>
            <a:br/>
            <a:r>
              <a:t>가야 할 병원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94760" y="2834640"/>
            <a:ext cx="822960" cy="0"/>
          </a:xfrm>
          <a:prstGeom prst="line">
            <a:avLst/>
          </a:prstGeom>
          <a:ln w="3810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589520" y="2834640"/>
            <a:ext cx="822960" cy="0"/>
          </a:xfrm>
          <a:prstGeom prst="line">
            <a:avLst/>
          </a:prstGeom>
          <a:ln w="3810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5074920"/>
            <a:ext cx="10241280" cy="36576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08142C"/>
                </a:solidFill>
                <a:latin typeface="Malgun Gothic"/>
              </a:rPr>
              <a:t>목표: 자연어 증상과 병원 추천 사이의 판단 과정을 데이터마이닝으로 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프로젝트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많이 묻지 않고, 위험한 증상은 놓치지 않고, 가까운 병원으로 연결한다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64008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0096B4"/>
                </a:solidFill>
                <a:latin typeface="Malgun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78608"/>
            <a:ext cx="201168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8142C"/>
                </a:solidFill>
                <a:latin typeface="Malgun Gothic"/>
              </a:rPr>
              <a:t>모델 기반 예측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196596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7486A0"/>
                </a:solidFill>
                <a:latin typeface="Malgun Gothic"/>
              </a:rPr>
              <a:t>네이버 지식인 증상 데이터로</a:t>
            </a:r>
            <a:br/>
            <a:r>
              <a:t>증상군·진료과·질환 후보 예측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8728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2057400"/>
            <a:ext cx="64008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0096B4"/>
                </a:solidFill>
                <a:latin typeface="Malgun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1608" y="2578608"/>
            <a:ext cx="201168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8142C"/>
                </a:solidFill>
                <a:latin typeface="Malgun Gothic"/>
              </a:rPr>
              <a:t>최소 문진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96" y="3154680"/>
            <a:ext cx="196596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7486A0"/>
                </a:solidFill>
                <a:latin typeface="Malgun Gothic"/>
              </a:rPr>
              <a:t>질환별 질문 후보 중</a:t>
            </a:r>
            <a:br/>
            <a:r>
              <a:t>필요한 1~4개만 선택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057400"/>
            <a:ext cx="64008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0096B4"/>
                </a:solidFill>
                <a:latin typeface="Malgun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2578608"/>
            <a:ext cx="201168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8142C"/>
                </a:solidFill>
                <a:latin typeface="Malgun Gothic"/>
              </a:rPr>
              <a:t>응급도 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2824" y="3154680"/>
            <a:ext cx="196596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7486A0"/>
                </a:solidFill>
                <a:latin typeface="Malgun Gothic"/>
              </a:rPr>
              <a:t>red flag와 risk score로</a:t>
            </a:r>
            <a:br/>
            <a:r>
              <a:t>위험도 보정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44584" y="1828800"/>
            <a:ext cx="2423160" cy="24688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7464" y="2057400"/>
            <a:ext cx="64008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0096B4"/>
                </a:solidFill>
                <a:latin typeface="Malgun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7464" y="2578608"/>
            <a:ext cx="201168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8142C"/>
                </a:solidFill>
                <a:latin typeface="Malgun Gothic"/>
              </a:rPr>
              <a:t>병원 추천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45752" y="3154680"/>
            <a:ext cx="196596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7486A0"/>
                </a:solidFill>
                <a:latin typeface="Malgun Gothic"/>
              </a:rPr>
              <a:t>응급/상시 병원, 병상,</a:t>
            </a:r>
            <a:br/>
            <a:r>
              <a:t>거리·ETA를 함께 반영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66360"/>
            <a:ext cx="1828800" cy="29260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096B4"/>
                </a:solidFill>
                <a:latin typeface="Malgun Gothic"/>
              </a:rPr>
              <a:t>핵심 메시지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5120640"/>
            <a:ext cx="8503920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100" b="1">
                <a:solidFill>
                  <a:srgbClr val="08142C"/>
                </a:solidFill>
                <a:latin typeface="Malgun Gothic"/>
              </a:rPr>
              <a:t>질환 판단은 모델이 중심, 응급도 데이터는 위험도 계산 보조로 분리했습니다.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전체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입력부터 결과까지 하나의 파이프라인으로 연결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057400"/>
            <a:ext cx="1874519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2221992"/>
            <a:ext cx="292608" cy="292608"/>
          </a:xfrm>
          <a:prstGeom prst="ellipse">
            <a:avLst/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000">
                <a:solidFill>
                  <a:srgbClr val="08142C"/>
                </a:solidFill>
                <a:latin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194560"/>
            <a:ext cx="1234439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50" b="1">
                <a:solidFill>
                  <a:srgbClr val="08142C"/>
                </a:solidFill>
                <a:latin typeface="Malgun Gothic"/>
              </a:rPr>
              <a:t>사용자 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624328"/>
            <a:ext cx="1600199" cy="36576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050" b="0">
                <a:solidFill>
                  <a:srgbClr val="7486A0"/>
                </a:solidFill>
                <a:latin typeface="Malgun Gothic"/>
              </a:rPr>
              <a:t>자연어 증상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79" y="2596896"/>
            <a:ext cx="393193" cy="0"/>
          </a:xfrm>
          <a:prstGeom prst="line">
            <a:avLst/>
          </a:prstGeom>
          <a:ln w="3175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79" y="2057400"/>
            <a:ext cx="1874519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72383" y="2221992"/>
            <a:ext cx="292608" cy="292608"/>
          </a:xfrm>
          <a:prstGeom prst="ellipse">
            <a:avLst/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000">
                <a:solidFill>
                  <a:srgbClr val="08142C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1" y="2194560"/>
            <a:ext cx="1234439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50" b="1">
                <a:solidFill>
                  <a:srgbClr val="08142C"/>
                </a:solidFill>
                <a:latin typeface="Malgun Gothic"/>
              </a:rPr>
              <a:t>증상 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1" y="2624328"/>
            <a:ext cx="1600199" cy="36576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050" b="0">
                <a:solidFill>
                  <a:srgbClr val="7486A0"/>
                </a:solidFill>
                <a:latin typeface="Malgun Gothic"/>
              </a:rPr>
              <a:t>TOP3 질환 후보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00598" y="2596896"/>
            <a:ext cx="393193" cy="0"/>
          </a:xfrm>
          <a:prstGeom prst="line">
            <a:avLst/>
          </a:prstGeom>
          <a:ln w="3175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57800" y="2057400"/>
            <a:ext cx="1874519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04104" y="2221992"/>
            <a:ext cx="292608" cy="292608"/>
          </a:xfrm>
          <a:prstGeom prst="ellipse">
            <a:avLst/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000">
                <a:solidFill>
                  <a:srgbClr val="08142C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2194560"/>
            <a:ext cx="1234439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50" b="1">
                <a:solidFill>
                  <a:srgbClr val="08142C"/>
                </a:solidFill>
                <a:latin typeface="Malgun Gothic"/>
              </a:rPr>
              <a:t>문진 선택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2392" y="2624328"/>
            <a:ext cx="1600199" cy="36576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050" b="0">
                <a:solidFill>
                  <a:srgbClr val="7486A0"/>
                </a:solidFill>
                <a:latin typeface="Malgun Gothic"/>
              </a:rPr>
              <a:t>질환별 질문 랭킹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2319" y="2596896"/>
            <a:ext cx="393193" cy="0"/>
          </a:xfrm>
          <a:prstGeom prst="line">
            <a:avLst/>
          </a:prstGeom>
          <a:ln w="3175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89519" y="2057400"/>
            <a:ext cx="1874519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5823" y="2221992"/>
            <a:ext cx="292608" cy="292608"/>
          </a:xfrm>
          <a:prstGeom prst="ellipse">
            <a:avLst/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000">
                <a:solidFill>
                  <a:srgbClr val="08142C"/>
                </a:solidFill>
                <a:latin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194560"/>
            <a:ext cx="1234439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50" b="1">
                <a:solidFill>
                  <a:srgbClr val="08142C"/>
                </a:solidFill>
                <a:latin typeface="Malgun Gothic"/>
              </a:rPr>
              <a:t>응급도 계산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1" y="2624328"/>
            <a:ext cx="1600199" cy="36576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050" b="0">
                <a:solidFill>
                  <a:srgbClr val="7486A0"/>
                </a:solidFill>
                <a:latin typeface="Malgun Gothic"/>
              </a:rPr>
              <a:t>red flag + risk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64038" y="2596896"/>
            <a:ext cx="393193" cy="0"/>
          </a:xfrm>
          <a:prstGeom prst="line">
            <a:avLst/>
          </a:prstGeom>
          <a:ln w="3175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921240" y="2057400"/>
            <a:ext cx="1874519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67544" y="2221992"/>
            <a:ext cx="292608" cy="292608"/>
          </a:xfrm>
          <a:prstGeom prst="ellipse">
            <a:avLst/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000">
                <a:solidFill>
                  <a:srgbClr val="08142C"/>
                </a:solidFill>
                <a:latin typeface="Malgun Gothic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51592" y="2194560"/>
            <a:ext cx="1234439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50" b="1">
                <a:solidFill>
                  <a:srgbClr val="08142C"/>
                </a:solidFill>
                <a:latin typeface="Malgun Gothic"/>
              </a:rPr>
              <a:t>병원 추천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5832" y="2624328"/>
            <a:ext cx="1600199" cy="36576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050" b="0">
                <a:solidFill>
                  <a:srgbClr val="7486A0"/>
                </a:solidFill>
                <a:latin typeface="Malgun Gothic"/>
              </a:rPr>
              <a:t>진료과·병상·ETA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315968"/>
            <a:ext cx="10241280" cy="1115568"/>
          </a:xfrm>
          <a:prstGeom prst="roundRect">
            <a:avLst>
              <a:gd name="adj" fmla="val 8000"/>
            </a:avLst>
          </a:prstGeom>
          <a:solidFill>
            <a:srgbClr val="E8F6F9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4590288"/>
            <a:ext cx="77724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096B4"/>
                </a:solidFill>
                <a:latin typeface="Malgun Gothic"/>
              </a:rPr>
              <a:t>출력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38528" y="4507992"/>
            <a:ext cx="8686800" cy="40233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8142C"/>
                </a:solidFill>
                <a:latin typeface="Malgun Gothic"/>
              </a:rPr>
              <a:t>응급도 · 의심 질환 · 추천 진료과 · 추천 병원 · 유사 사례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데이터 수집과 정제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사용자 표현 데이터와 응급 판단 데이터를 역할별로 분리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901952"/>
            <a:ext cx="17830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12848"/>
            <a:ext cx="1508760" cy="31089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900" b="1">
                <a:solidFill>
                  <a:srgbClr val="08142C"/>
                </a:solidFill>
                <a:latin typeface="Malgun Gothic"/>
              </a:rPr>
              <a:t>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16352"/>
            <a:ext cx="150876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7486A0"/>
                </a:solidFill>
                <a:latin typeface="Malgun Gothic"/>
              </a:rPr>
              <a:t>네이버 지식인</a:t>
            </a:r>
            <a:br/>
            <a:r>
              <a:t>증상 사례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880360"/>
            <a:ext cx="393192" cy="0"/>
          </a:xfrm>
          <a:prstGeom prst="line">
            <a:avLst/>
          </a:prstGeom>
          <a:ln w="2540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1901952"/>
            <a:ext cx="17830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4680" y="2212848"/>
            <a:ext cx="1508760" cy="31089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900" b="1">
                <a:solidFill>
                  <a:srgbClr val="08142C"/>
                </a:solidFill>
                <a:latin typeface="Malgun Gothic"/>
              </a:rPr>
              <a:t>정제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816352"/>
            <a:ext cx="150876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7486A0"/>
                </a:solidFill>
                <a:latin typeface="Malgun Gothic"/>
              </a:rPr>
              <a:t>비의료·동물·광고</a:t>
            </a:r>
            <a:br/>
            <a:r>
              <a:t>사례 제거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00600" y="2880360"/>
            <a:ext cx="393192" cy="0"/>
          </a:xfrm>
          <a:prstGeom prst="line">
            <a:avLst/>
          </a:prstGeom>
          <a:ln w="2540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257800" y="1901952"/>
            <a:ext cx="17830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2212848"/>
            <a:ext cx="1508760" cy="31089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900" b="1">
                <a:solidFill>
                  <a:srgbClr val="08142C"/>
                </a:solidFill>
                <a:latin typeface="Malgun Gothic"/>
              </a:rPr>
              <a:t>라벨링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816352"/>
            <a:ext cx="150876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7486A0"/>
                </a:solidFill>
                <a:latin typeface="Malgun Gothic"/>
              </a:rPr>
              <a:t>증상군·진료과</a:t>
            </a:r>
            <a:br/>
            <a:r>
              <a:t>의심 질환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40880" y="2880360"/>
            <a:ext cx="393192" cy="0"/>
          </a:xfrm>
          <a:prstGeom prst="line">
            <a:avLst/>
          </a:prstGeom>
          <a:ln w="2540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98080" y="1901952"/>
            <a:ext cx="17830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2212848"/>
            <a:ext cx="1508760" cy="31089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900" b="1">
                <a:solidFill>
                  <a:srgbClr val="08142C"/>
                </a:solidFill>
                <a:latin typeface="Malgun Gothic"/>
              </a:rPr>
              <a:t>통합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816352"/>
            <a:ext cx="150876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7486A0"/>
                </a:solidFill>
                <a:latin typeface="Malgun Gothic"/>
              </a:rPr>
              <a:t>disease_id</a:t>
            </a:r>
            <a:br/>
            <a:r>
              <a:t>매핑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81160" y="2880360"/>
            <a:ext cx="393192" cy="0"/>
          </a:xfrm>
          <a:prstGeom prst="line">
            <a:avLst/>
          </a:prstGeom>
          <a:ln w="2540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38360" y="1901952"/>
            <a:ext cx="17830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212848"/>
            <a:ext cx="1508760" cy="31089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900" b="1">
                <a:solidFill>
                  <a:srgbClr val="08142C"/>
                </a:solidFill>
                <a:latin typeface="Malgun Gothic"/>
              </a:rPr>
              <a:t>활용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816352"/>
            <a:ext cx="150876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7486A0"/>
                </a:solidFill>
                <a:latin typeface="Malgun Gothic"/>
              </a:rPr>
              <a:t>모델 학습</a:t>
            </a:r>
            <a:br/>
            <a:r>
              <a:t>문진·응급도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663440"/>
            <a:ext cx="9875520" cy="100584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질환 판단용 데이터와 응급도 보조 데이터를 분리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질환명 흔들림은 disease_master와 disease_id로 통합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mapped CSV unmapped row 0개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데이터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평가자가 바로 확인할 수 있는 핵심 숫자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05740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221992"/>
            <a:ext cx="1581911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700" b="1">
                <a:solidFill>
                  <a:srgbClr val="0096B4"/>
                </a:solidFill>
                <a:latin typeface="Malgun Gothic"/>
              </a:rPr>
              <a:t>3,499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715768"/>
            <a:ext cx="1655063" cy="23774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7486A0"/>
                </a:solidFill>
                <a:latin typeface="Malgun Gothic"/>
              </a:rPr>
              <a:t>네이버 증상 사례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8648" y="205740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2" y="2221992"/>
            <a:ext cx="1581911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700" b="1">
                <a:solidFill>
                  <a:srgbClr val="0096B4"/>
                </a:solidFill>
                <a:latin typeface="Malgun Gothic"/>
              </a:rPr>
              <a:t>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8376" y="2715768"/>
            <a:ext cx="1655063" cy="23774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7486A0"/>
                </a:solidFill>
                <a:latin typeface="Malgun Gothic"/>
              </a:rPr>
              <a:t>disease master 질환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02936" y="205740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2221992"/>
            <a:ext cx="1581911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700" b="1">
                <a:solidFill>
                  <a:srgbClr val="0096B4"/>
                </a:solidFill>
                <a:latin typeface="Malgun Gothic"/>
              </a:rPr>
              <a:t>118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715768"/>
            <a:ext cx="1655063" cy="23774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7486A0"/>
                </a:solidFill>
                <a:latin typeface="Malgun Gothic"/>
              </a:rPr>
              <a:t>학습 대상 disease_id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205740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2221992"/>
            <a:ext cx="1581911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700" b="1">
                <a:solidFill>
                  <a:srgbClr val="0096B4"/>
                </a:solidFill>
                <a:latin typeface="Malgun Gothic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2" y="2715768"/>
            <a:ext cx="1655063" cy="23774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7486A0"/>
                </a:solidFill>
                <a:latin typeface="Malgun Gothic"/>
              </a:rPr>
              <a:t>질환별 문진 질문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2057400"/>
            <a:ext cx="1874519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7816" y="2221992"/>
            <a:ext cx="1581911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700" b="1">
                <a:solidFill>
                  <a:srgbClr val="23BE78"/>
                </a:solidFill>
                <a:latin typeface="Malgun Gothic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2715768"/>
            <a:ext cx="1655063" cy="23774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7486A0"/>
                </a:solidFill>
                <a:latin typeface="Malgun Gothic"/>
              </a:rPr>
              <a:t>unmapped rows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" y="4251960"/>
            <a:ext cx="10241280" cy="1143000"/>
          </a:xfrm>
          <a:prstGeom prst="roundRect">
            <a:avLst>
              <a:gd name="adj" fmla="val 8000"/>
            </a:avLst>
          </a:prstGeom>
          <a:solidFill>
            <a:srgbClr val="08142C"/>
          </a:solidFill>
          <a:ln>
            <a:solidFill>
              <a:srgbClr val="081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4535424"/>
            <a:ext cx="2194560" cy="29260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0CBE8"/>
                </a:solidFill>
                <a:latin typeface="Malgun Gothic"/>
              </a:rPr>
              <a:t>데이터 이해도 포인트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425696"/>
            <a:ext cx="7772400" cy="53035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단순히 많이 모은 것이 아니라, 질환·질문·응급룰·병원 데이터를 같은 disease_id 체계로 연결했습니다.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모델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자연어 증상을 의심 질환 TOP3 후보로 변환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2880360" cy="2331720"/>
          </a:xfrm>
          <a:prstGeom prst="roundRect">
            <a:avLst>
              <a:gd name="adj" fmla="val 8000"/>
            </a:avLst>
          </a:prstGeom>
          <a:solidFill>
            <a:srgbClr val="E8F6F9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121408"/>
            <a:ext cx="233172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08142C"/>
                </a:solidFill>
                <a:latin typeface="Malgun Gothic"/>
              </a:rPr>
              <a:t>입력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788920"/>
            <a:ext cx="251460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450" b="0">
                <a:solidFill>
                  <a:srgbClr val="7486A0"/>
                </a:solidFill>
                <a:latin typeface="Malgun Gothic"/>
              </a:rPr>
              <a:t>“열이 나고 기침이 있으며</a:t>
            </a:r>
            <a:br/>
            <a:r>
              <a:t>냄새를 잘 못 맡겠습니다”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645920"/>
            <a:ext cx="283464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993392"/>
            <a:ext cx="233172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08142C"/>
                </a:solidFill>
                <a:latin typeface="Malgun Gothic"/>
              </a:rPr>
              <a:t>symptom_classifier.pkl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578608"/>
            <a:ext cx="2103120" cy="91440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192437"/>
                </a:solidFill>
                <a:latin typeface="Malgun Gothic"/>
              </a:rPr>
              <a:t>●  char TF-IDF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192437"/>
                </a:solidFill>
                <a:latin typeface="Malgun Gothic"/>
              </a:rPr>
              <a:t>●  Linear SVC 계열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192437"/>
                </a:solidFill>
                <a:latin typeface="Malgun Gothic"/>
              </a:rPr>
              <a:t>●  disease_id 모델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828800"/>
            <a:ext cx="2971800" cy="2331720"/>
          </a:xfrm>
          <a:prstGeom prst="roundRect">
            <a:avLst>
              <a:gd name="adj" fmla="val 8000"/>
            </a:avLst>
          </a:prstGeom>
          <a:solidFill>
            <a:srgbClr val="E8F6F9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121408"/>
            <a:ext cx="251460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08142C"/>
                </a:solidFill>
                <a:latin typeface="Malgun Gothic"/>
              </a:rPr>
              <a:t>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2798064"/>
            <a:ext cx="2514600" cy="6400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700" b="0">
                <a:solidFill>
                  <a:srgbClr val="7486A0"/>
                </a:solidFill>
                <a:latin typeface="Malgun Gothic"/>
              </a:rPr>
              <a:t>증상군 · 진료과</a:t>
            </a:r>
            <a:br/>
            <a:r>
              <a:t>의심 질환 TOP3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03320" y="3017520"/>
            <a:ext cx="960120" cy="0"/>
          </a:xfrm>
          <a:prstGeom prst="line">
            <a:avLst/>
          </a:prstGeom>
          <a:ln w="3810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3017520"/>
            <a:ext cx="896113" cy="0"/>
          </a:xfrm>
          <a:prstGeom prst="line">
            <a:avLst/>
          </a:prstGeom>
          <a:ln w="38100">
            <a:solidFill>
              <a:srgbClr val="0096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5166360"/>
            <a:ext cx="1005840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700" b="0">
                <a:solidFill>
                  <a:srgbClr val="7486A0"/>
                </a:solidFill>
                <a:latin typeface="Malgun Gothic"/>
              </a:rPr>
              <a:t>모델 비교 근거: Majority baseline, Word TF-IDF, Char TF-IDF, Linear SVC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추가 문진 로직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고정 질문이 아니라, 필요한 질문만 고른다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55648"/>
            <a:ext cx="4846320" cy="34747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46304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100" b="1">
                <a:solidFill>
                  <a:srgbClr val="08142C"/>
                </a:solidFill>
                <a:latin typeface="Malgun Gothic"/>
              </a:rPr>
              <a:t>질문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788920"/>
            <a:ext cx="4069080" cy="7772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096B4"/>
                </a:solidFill>
                <a:latin typeface="Malgun Gothic"/>
              </a:rPr>
              <a:t>질환 일치 + 증상군 일치 + risk_score + importance - 이미 입력한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4187952"/>
            <a:ext cx="370332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900" b="1">
                <a:solidFill>
                  <a:srgbClr val="08142C"/>
                </a:solidFill>
                <a:latin typeface="Malgun Gothic"/>
              </a:rPr>
              <a:t>Top 1~4개만 반환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55648"/>
            <a:ext cx="4617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057400"/>
            <a:ext cx="100584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100" b="1">
                <a:solidFill>
                  <a:srgbClr val="08142C"/>
                </a:solidFill>
                <a:latin typeface="Malgun Gothic"/>
              </a:rPr>
              <a:t>예시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743200"/>
            <a:ext cx="3886200" cy="146304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뇌졸중 예측 -&gt; 얼굴 처짐, 심한 두통 질문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감전 예측 -&gt; 전기손상 전용 질문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감기 예측 -&gt; 과도한 응급 질문 제외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응급도와 병원 추천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위험한 증상은 응급실, 일반 증상은 상시 병원으로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3246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33272" y="2176272"/>
            <a:ext cx="1371600" cy="292608"/>
          </a:xfrm>
          <a:prstGeom prst="roundRect">
            <a:avLst>
              <a:gd name="adj" fmla="val 18000"/>
            </a:avLst>
          </a:prstGeom>
          <a:solidFill>
            <a:srgbClr val="F44A4A"/>
          </a:solidFill>
          <a:ln>
            <a:solidFill>
              <a:srgbClr val="F4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Red flag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907792"/>
            <a:ext cx="2560320" cy="109728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호흡곤란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의식저하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편마비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흉통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874519"/>
            <a:ext cx="3246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28032" y="2176272"/>
            <a:ext cx="1371600" cy="292608"/>
          </a:xfrm>
          <a:prstGeom prst="roundRect">
            <a:avLst>
              <a:gd name="adj" fmla="val 18000"/>
            </a:avLst>
          </a:prstGeom>
          <a:solidFill>
            <a:srgbClr val="FFC242"/>
          </a:solidFill>
          <a:ln>
            <a:solidFill>
              <a:srgbClr val="FFC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8142C"/>
                </a:solidFill>
                <a:latin typeface="Malgun Gothic"/>
              </a:rPr>
              <a:t>Risk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9472" y="2907792"/>
            <a:ext cx="2560320" cy="109728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문진 답변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위험도 점수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10점 clamp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874519"/>
            <a:ext cx="3246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22792" y="2176272"/>
            <a:ext cx="1371600" cy="292608"/>
          </a:xfrm>
          <a:prstGeom prst="roundRect">
            <a:avLst>
              <a:gd name="adj" fmla="val 18000"/>
            </a:avLst>
          </a:prstGeom>
          <a:solidFill>
            <a:srgbClr val="0096B4"/>
          </a:solidFill>
          <a:ln>
            <a:solidFill>
              <a:srgbClr val="009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Hospital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4232" y="2907792"/>
            <a:ext cx="2560320" cy="109728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진료과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가용 병상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192437"/>
                </a:solidFill>
                <a:latin typeface="Malgun Gothic"/>
              </a:rPr>
              <a:t>●  거리·ETA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49240"/>
            <a:ext cx="9921240" cy="32918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100" b="1">
                <a:solidFill>
                  <a:srgbClr val="08142C"/>
                </a:solidFill>
                <a:latin typeface="Malgun Gothic"/>
              </a:rPr>
              <a:t>병상 0개 응급병원은 거리만 가까워도 우선순위가 내려갑니다.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실제 화면 1: 증상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사용자는 증상을 자연어로 입력하고 위치를 설정한다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1083564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te_hom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27632"/>
            <a:ext cx="1037844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실제 화면 2: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응급도, 의심 질환, 추천 병원이 한 화면에 정리된다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61872"/>
            <a:ext cx="6629400" cy="5166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te_stroke_result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44752"/>
            <a:ext cx="626364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600200"/>
            <a:ext cx="3520440" cy="1005840"/>
          </a:xfrm>
          <a:prstGeom prst="roundRect">
            <a:avLst>
              <a:gd name="adj" fmla="val 8000"/>
            </a:avLst>
          </a:prstGeom>
          <a:solidFill>
            <a:srgbClr val="E8F6F9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2127" y="1874519"/>
            <a:ext cx="2971800" cy="31089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08142C"/>
                </a:solidFill>
                <a:latin typeface="Malgun Gothic"/>
              </a:rPr>
              <a:t>뇌졸중 예시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71800"/>
            <a:ext cx="3154680" cy="146304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응급도: 긴급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질환: 뇌졸중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진료과: 신경과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병원: 응급의료기관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발표용 데모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평가자가 이해하기 쉬운 대표 입력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1508760"/>
            <a:ext cx="1014984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70432" y="1655064"/>
            <a:ext cx="1325880" cy="292608"/>
          </a:xfrm>
          <a:prstGeom prst="roundRect">
            <a:avLst>
              <a:gd name="adj" fmla="val 18000"/>
            </a:avLst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8142C"/>
                </a:solidFill>
                <a:latin typeface="Malgun Gothic"/>
              </a:rPr>
              <a:t>뇌졸중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664208"/>
            <a:ext cx="786384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650" b="1">
                <a:solidFill>
                  <a:srgbClr val="08142C"/>
                </a:solidFill>
                <a:latin typeface="Malgun Gothic"/>
              </a:rPr>
              <a:t>한쪽 팔 힘 빠짐 + 말 어눌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313432"/>
            <a:ext cx="1014984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70432" y="2459736"/>
            <a:ext cx="1325880" cy="292608"/>
          </a:xfrm>
          <a:prstGeom prst="roundRect">
            <a:avLst>
              <a:gd name="adj" fmla="val 18000"/>
            </a:avLst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8142C"/>
                </a:solidFill>
                <a:latin typeface="Malgun Gothic"/>
              </a:rPr>
              <a:t>심근경색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468880"/>
            <a:ext cx="786384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650" b="1">
                <a:solidFill>
                  <a:srgbClr val="08142C"/>
                </a:solidFill>
                <a:latin typeface="Malgun Gothic"/>
              </a:rPr>
              <a:t>가슴 짓누름 + 식은땀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118104"/>
            <a:ext cx="1014984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70432" y="3264408"/>
            <a:ext cx="1325880" cy="292608"/>
          </a:xfrm>
          <a:prstGeom prst="roundRect">
            <a:avLst>
              <a:gd name="adj" fmla="val 18000"/>
            </a:avLst>
          </a:prstGeom>
          <a:solidFill>
            <a:srgbClr val="F44A4A"/>
          </a:solidFill>
          <a:ln>
            <a:solidFill>
              <a:srgbClr val="F4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아나필락시스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273552"/>
            <a:ext cx="786384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650" b="1">
                <a:solidFill>
                  <a:srgbClr val="08142C"/>
                </a:solidFill>
                <a:latin typeface="Malgun Gothic"/>
              </a:rPr>
              <a:t>벌 쏘임 + 입술 붓고 호흡곤란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922776"/>
            <a:ext cx="1014984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70432" y="4069080"/>
            <a:ext cx="1325880" cy="292608"/>
          </a:xfrm>
          <a:prstGeom prst="roundRect">
            <a:avLst>
              <a:gd name="adj" fmla="val 18000"/>
            </a:avLst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8142C"/>
                </a:solidFill>
                <a:latin typeface="Malgun Gothic"/>
              </a:rPr>
              <a:t>장염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078224"/>
            <a:ext cx="786384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650" b="1">
                <a:solidFill>
                  <a:srgbClr val="08142C"/>
                </a:solidFill>
                <a:latin typeface="Malgun Gothic"/>
              </a:rPr>
              <a:t>설사 6번 + 복통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4727448"/>
            <a:ext cx="10149840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70432" y="4873752"/>
            <a:ext cx="1325880" cy="292608"/>
          </a:xfrm>
          <a:prstGeom prst="roundRect">
            <a:avLst>
              <a:gd name="adj" fmla="val 18000"/>
            </a:avLst>
          </a:prstGeom>
          <a:solidFill>
            <a:srgbClr val="00CBE8"/>
          </a:solidFill>
          <a:ln>
            <a:solidFill>
              <a:srgbClr val="00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8142C"/>
                </a:solidFill>
                <a:latin typeface="Malgun Gothic"/>
              </a:rPr>
              <a:t>감기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882896"/>
            <a:ext cx="786384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650" b="1">
                <a:solidFill>
                  <a:srgbClr val="08142C"/>
                </a:solidFill>
                <a:latin typeface="Malgun Gothic"/>
              </a:rPr>
              <a:t>목 아픔 + 콧물 + 낮은 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06440"/>
            <a:ext cx="1014984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900" b="0">
                <a:solidFill>
                  <a:srgbClr val="7486A0"/>
                </a:solidFill>
                <a:latin typeface="Malgun Gothic"/>
              </a:rPr>
              <a:t>데모 순서 추천: 비응급 1개 -&gt; 응급 red flag 1개 -&gt; 문진 흐름 1개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실행 검증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정적 분석이 아니라 실제 실행 기준으로 확인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182880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993392"/>
            <a:ext cx="1993392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700" b="1">
                <a:solidFill>
                  <a:srgbClr val="23BE78"/>
                </a:solidFill>
                <a:latin typeface="Malgun Gothic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487168"/>
            <a:ext cx="2066544" cy="23774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7486A0"/>
                </a:solidFill>
                <a:latin typeface="Malgun Gothic"/>
              </a:rPr>
              <a:t>검증 항목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82880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58184" y="1993392"/>
            <a:ext cx="1993392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700" b="1">
                <a:solidFill>
                  <a:srgbClr val="23BE78"/>
                </a:solidFill>
                <a:latin typeface="Malgun Gothic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1608" y="2487168"/>
            <a:ext cx="2066544" cy="23774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7486A0"/>
                </a:solidFill>
                <a:latin typeface="Malgun Gothic"/>
              </a:rPr>
              <a:t>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1993392"/>
            <a:ext cx="1993392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700" b="1">
                <a:solidFill>
                  <a:srgbClr val="0096B4"/>
                </a:solidFill>
                <a:latin typeface="Malgun Gothic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487168"/>
            <a:ext cx="2066544" cy="23774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7486A0"/>
                </a:solidFill>
                <a:latin typeface="Malgun Gothic"/>
              </a:rPr>
              <a:t>데모 입력 테스트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82880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B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1704" y="1993392"/>
            <a:ext cx="1993392" cy="38404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700" b="1">
                <a:solidFill>
                  <a:srgbClr val="0096B4"/>
                </a:solidFill>
                <a:latin typeface="Malgun Gothic"/>
              </a:rPr>
              <a:t>TOP10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2487168"/>
            <a:ext cx="2066544" cy="237744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1050" b="0">
                <a:solidFill>
                  <a:srgbClr val="7486A0"/>
                </a:solidFill>
                <a:latin typeface="Malgun Gothic"/>
              </a:rPr>
              <a:t>발표 시나리오 선정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77639"/>
            <a:ext cx="9692640" cy="109728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모델 로드, disease_master, mapped CSV 검증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FastAPI backend 실제 실행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주요 API /questions, /analyze 테스트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92437"/>
                </a:solidFill>
                <a:latin typeface="Malgun Gothic"/>
              </a:rPr>
              <a:t>●  배포 사이트 브라우저 테스트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81360" cy="50292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8142C"/>
                </a:solidFill>
                <a:latin typeface="Malgun Gothic"/>
              </a:rPr>
              <a:t>상대팀 평가 기준 대응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424160" cy="34747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486A0"/>
                </a:solidFill>
                <a:latin typeface="Malgun Gothic"/>
              </a:rPr>
              <a:t>채점 포인트별로 근거를 준비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4800600" cy="1115568"/>
          </a:xfrm>
          <a:prstGeom prst="roundRect">
            <a:avLst>
              <a:gd name="adj" fmla="val 8000"/>
            </a:avLst>
          </a:prstGeom>
          <a:solidFill>
            <a:srgbClr val="E8F6F9"/>
          </a:solidFill>
          <a:ln>
            <a:solidFill>
              <a:srgbClr val="D6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9848" y="2039112"/>
            <a:ext cx="36576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23BE78"/>
                </a:solidFill>
                <a:latin typeface="Malgun Gothic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965960"/>
            <a:ext cx="1737360" cy="29260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8142C"/>
                </a:solidFill>
                <a:latin typeface="Malgun Gothic"/>
              </a:rPr>
              <a:t>문제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404872"/>
            <a:ext cx="361188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50" b="0">
                <a:solidFill>
                  <a:srgbClr val="7486A0"/>
                </a:solidFill>
                <a:latin typeface="Malgun Gothic"/>
              </a:rPr>
              <a:t>증상 -&gt; 응급도 -&gt; 병원 안내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783080"/>
            <a:ext cx="480060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2039112"/>
            <a:ext cx="36576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23BE78"/>
                </a:solidFill>
                <a:latin typeface="Malgun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5472" y="1965960"/>
            <a:ext cx="1737360" cy="29260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8142C"/>
                </a:solidFill>
                <a:latin typeface="Malgun Gothic"/>
              </a:rPr>
              <a:t>데이터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5472" y="2404872"/>
            <a:ext cx="361188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50" b="0">
                <a:solidFill>
                  <a:srgbClr val="7486A0"/>
                </a:solidFill>
                <a:latin typeface="Malgun Gothic"/>
              </a:rPr>
              <a:t>3,499건 + disease_id 통합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383280"/>
            <a:ext cx="4800600" cy="1115568"/>
          </a:xfrm>
          <a:prstGeom prst="roundRect">
            <a:avLst>
              <a:gd name="adj" fmla="val 8000"/>
            </a:avLst>
          </a:prstGeom>
          <a:solidFill>
            <a:srgbClr val="E8F6F9"/>
          </a:solidFill>
          <a:ln>
            <a:solidFill>
              <a:srgbClr val="D6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639312"/>
            <a:ext cx="36576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23BE78"/>
                </a:solidFill>
                <a:latin typeface="Malgun Gothic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566160"/>
            <a:ext cx="1737360" cy="29260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8142C"/>
                </a:solidFill>
                <a:latin typeface="Malgun Gothic"/>
              </a:rPr>
              <a:t>기술 난이도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005072"/>
            <a:ext cx="361188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50" b="0">
                <a:solidFill>
                  <a:srgbClr val="7486A0"/>
                </a:solidFill>
                <a:latin typeface="Malgun Gothic"/>
              </a:rPr>
              <a:t>모델·문진·추천 직접 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383280"/>
            <a:ext cx="480060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6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8" y="3639312"/>
            <a:ext cx="36576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23BE78"/>
                </a:solidFill>
                <a:latin typeface="Malgun Gothic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2" y="3566160"/>
            <a:ext cx="1737360" cy="292608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8142C"/>
                </a:solidFill>
                <a:latin typeface="Malgun Gothic"/>
              </a:rPr>
              <a:t>완성도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5472" y="4005072"/>
            <a:ext cx="3611880" cy="256032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350" b="0">
                <a:solidFill>
                  <a:srgbClr val="7486A0"/>
                </a:solidFill>
                <a:latin typeface="Malgun Gothic"/>
              </a:rPr>
              <a:t>실제 배포 + API 검증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623560"/>
            <a:ext cx="1005840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0096B4"/>
                </a:solidFill>
                <a:latin typeface="Malgun Gothic"/>
              </a:rPr>
              <a:t>제출 근거 문서: docs/peer_evaluation_guide.md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3200400" cy="41148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0CBE8"/>
                </a:solidFill>
                <a:latin typeface="Malgun Gothic"/>
              </a:rPr>
              <a:t>최종 메시지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6949440" cy="205740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진단기가 아니라,</a:t>
            </a:r>
            <a:br/>
            <a:r>
              <a:t>응급도와 병원 선택을 돕는</a:t>
            </a:r>
            <a:br/>
            <a:r>
              <a:t>데이터 기반 안내 시스템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79" y="1508760"/>
            <a:ext cx="3840480" cy="3154680"/>
          </a:xfrm>
          <a:prstGeom prst="roundRect">
            <a:avLst>
              <a:gd name="adj" fmla="val 8000"/>
            </a:avLst>
          </a:prstGeom>
          <a:solidFill>
            <a:srgbClr val="0D203F"/>
          </a:solidFill>
          <a:ln>
            <a:solidFill>
              <a:srgbClr val="2244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0" y="1920240"/>
            <a:ext cx="3108960" cy="1554480"/>
          </a:xfrm>
          <a:prstGeom prst="rect">
            <a:avLst/>
          </a:prstGeom>
          <a:noFill/>
        </p:spPr>
        <p:txBody>
          <a:bodyPr wrap="none" lIns="27432" rIns="27432" tIns="18288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FFFFFF"/>
                </a:solidFill>
                <a:latin typeface="Malgun Gothic"/>
              </a:rPr>
              <a:t>●  모델 기반 질환 후보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FFFFFF"/>
                </a:solidFill>
                <a:latin typeface="Malgun Gothic"/>
              </a:rPr>
              <a:t>●  최소 문진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FFFFFF"/>
                </a:solidFill>
                <a:latin typeface="Malgun Gothic"/>
              </a:rPr>
              <a:t>●  red flag 우선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FFFFFF"/>
                </a:solidFill>
                <a:latin typeface="Malgun Gothic"/>
              </a:rPr>
              <a:t>●  응급/상시 병원 추천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97880"/>
            <a:ext cx="7315200" cy="320040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BED6E6"/>
                </a:solidFill>
                <a:latin typeface="Malgun Gothic"/>
              </a:rPr>
              <a:t>강원도 맞춤형 응급 및 상시 병원 안내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28232"/>
            <a:ext cx="457200" cy="219456"/>
          </a:xfrm>
          <a:prstGeom prst="rect">
            <a:avLst/>
          </a:prstGeom>
          <a:noFill/>
        </p:spPr>
        <p:txBody>
          <a:bodyPr wrap="non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7486A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